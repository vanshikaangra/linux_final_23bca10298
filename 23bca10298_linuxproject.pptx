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31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4255" y="2286000"/>
            <a:ext cx="4348303" cy="2090829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b="1" dirty="0">
                <a:latin typeface="Times New Roman"/>
                <a:cs typeface="Times New Roman"/>
              </a:rPr>
              <a:t>CHANDIGARH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UNIVERSITY</a:t>
            </a:r>
            <a:endParaRPr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>
                <a:latin typeface="Times New Roman"/>
                <a:cs typeface="Times New Roman"/>
              </a:rPr>
              <a:t>DEPARTMENT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COMPUTER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APPLICATIONS</a:t>
            </a: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dirty="0">
              <a:latin typeface="Times New Roman"/>
              <a:cs typeface="Times New Roman"/>
            </a:endParaRPr>
          </a:p>
          <a:p>
            <a:pPr marL="1207770" marR="1201420" algn="ctr">
              <a:lnSpc>
                <a:spcPct val="143600"/>
              </a:lnSpc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REPORT </a:t>
            </a:r>
            <a:r>
              <a:rPr sz="1600" spc="-25" dirty="0">
                <a:latin typeface="Times New Roman"/>
                <a:cs typeface="Times New Roman"/>
              </a:rPr>
              <a:t>ON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4376829"/>
            <a:ext cx="5034027" cy="4490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USER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GROUP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WITH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ACCESS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CONTROL</a:t>
            </a: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65555" marR="1859914" indent="3810" algn="ctr">
              <a:lnSpc>
                <a:spcPct val="145500"/>
              </a:lnSpc>
            </a:pPr>
            <a:r>
              <a:rPr b="1" dirty="0">
                <a:latin typeface="Times New Roman"/>
                <a:cs typeface="Times New Roman"/>
              </a:rPr>
              <a:t>Submitted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by: 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Vanshika</a:t>
            </a:r>
            <a:endParaRPr b="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dirty="0">
              <a:latin typeface="Times New Roman"/>
              <a:cs typeface="Times New Roman"/>
            </a:endParaRPr>
          </a:p>
          <a:p>
            <a:pPr marL="1186180" marR="1779905" algn="ctr">
              <a:lnSpc>
                <a:spcPct val="143700"/>
              </a:lnSpc>
              <a:spcBef>
                <a:spcPts val="5"/>
              </a:spcBef>
            </a:pPr>
            <a:r>
              <a:rPr dirty="0">
                <a:latin typeface="Times New Roman"/>
                <a:cs typeface="Times New Roman"/>
              </a:rPr>
              <a:t>Under the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Guidance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of</a:t>
            </a:r>
            <a:r>
              <a:rPr b="1" spc="-25" dirty="0">
                <a:latin typeface="Times New Roman"/>
                <a:cs typeface="Times New Roman"/>
              </a:rPr>
              <a:t>: </a:t>
            </a:r>
            <a:r>
              <a:rPr b="1" dirty="0">
                <a:latin typeface="Times New Roman"/>
                <a:cs typeface="Times New Roman"/>
              </a:rPr>
              <a:t>Mr.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Rajat</a:t>
            </a:r>
            <a:r>
              <a:rPr b="1" spc="-10" dirty="0">
                <a:latin typeface="Times New Roman"/>
                <a:cs typeface="Times New Roman"/>
              </a:rPr>
              <a:t> Patial </a:t>
            </a:r>
            <a:r>
              <a:rPr dirty="0">
                <a:latin typeface="Times New Roman"/>
                <a:cs typeface="Times New Roman"/>
              </a:rPr>
              <a:t>Assistant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Professor </a:t>
            </a:r>
            <a:r>
              <a:rPr dirty="0">
                <a:latin typeface="Times New Roman"/>
                <a:cs typeface="Times New Roman"/>
              </a:rPr>
              <a:t>Department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lang="en-IN" spc="-40" dirty="0">
                <a:latin typeface="Times New Roman"/>
                <a:cs typeface="Times New Roman"/>
              </a:rPr>
              <a:t> UIC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Chandigarh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University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1026" name="Picture 2" descr="Chandigarh University CU Logo PNG, SVG ...">
            <a:extLst>
              <a:ext uri="{FF2B5EF4-FFF2-40B4-BE49-F238E27FC236}">
                <a16:creationId xmlns:a16="http://schemas.microsoft.com/office/drawing/2014/main" id="{D064351D-2D32-01C6-BC4C-DCE2063E9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805" y="457200"/>
            <a:ext cx="4348304" cy="154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9760"/>
            <a:ext cx="6032196" cy="5752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Times New Roman"/>
                <a:cs typeface="Times New Roman"/>
              </a:rPr>
              <a:t>CERTIFICATE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3800"/>
              </a:lnSpc>
              <a:spcBef>
                <a:spcPts val="969"/>
              </a:spcBef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certify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titled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“User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Management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Control”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has </a:t>
            </a:r>
            <a:r>
              <a:rPr sz="1400" dirty="0">
                <a:latin typeface="Times New Roman"/>
                <a:cs typeface="Times New Roman"/>
              </a:rPr>
              <a:t>been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successfully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completed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 err="1">
                <a:latin typeface="Times New Roman"/>
                <a:cs typeface="Times New Roman"/>
              </a:rPr>
              <a:t>Vanshika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supervision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Mr.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Rajat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Patial, </a:t>
            </a:r>
            <a:r>
              <a:rPr sz="1400" dirty="0">
                <a:latin typeface="Times New Roman"/>
                <a:cs typeface="Times New Roman"/>
              </a:rPr>
              <a:t>Assistant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Professor,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Computer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Applications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Chandigarh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University.</a:t>
            </a:r>
            <a:endParaRPr sz="1400" dirty="0">
              <a:latin typeface="Times New Roman"/>
              <a:cs typeface="Times New Roman"/>
            </a:endParaRPr>
          </a:p>
          <a:p>
            <a:pPr marL="12700" marR="524510">
              <a:lnSpc>
                <a:spcPct val="143600"/>
              </a:lnSpc>
            </a:pPr>
            <a:r>
              <a:rPr sz="1400" dirty="0">
                <a:latin typeface="Times New Roman"/>
                <a:cs typeface="Times New Roman"/>
              </a:rPr>
              <a:t>This work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 submitted 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partial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fulfillment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requirements for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course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Linux </a:t>
            </a:r>
            <a:r>
              <a:rPr sz="1400" dirty="0">
                <a:latin typeface="Times New Roman"/>
                <a:cs typeface="Times New Roman"/>
              </a:rPr>
              <a:t>Administration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46990">
              <a:lnSpc>
                <a:spcPct val="143600"/>
              </a:lnSpc>
            </a:pP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hereby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declare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represents original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carried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students under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mentioned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guidance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 not been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submitted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elsewhere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-10" dirty="0">
                <a:latin typeface="Times New Roman"/>
                <a:cs typeface="Times New Roman"/>
              </a:rPr>
              <a:t> purpose.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(Signature)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3834765">
              <a:lnSpc>
                <a:spcPct val="143700"/>
              </a:lnSpc>
            </a:pPr>
            <a:r>
              <a:rPr sz="1400" dirty="0">
                <a:latin typeface="Times New Roman"/>
                <a:cs typeface="Times New Roman"/>
              </a:rPr>
              <a:t>Supervisor: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Mr.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Rajat</a:t>
            </a:r>
            <a:r>
              <a:rPr lang="en-US" sz="1400" dirty="0">
                <a:latin typeface="Times New Roman"/>
                <a:cs typeface="Times New Roman"/>
              </a:rPr>
              <a:t> Patial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Assistant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Professor </a:t>
            </a:r>
            <a:r>
              <a:rPr sz="1400" dirty="0">
                <a:latin typeface="Times New Roman"/>
                <a:cs typeface="Times New Roman"/>
              </a:rPr>
              <a:t>Department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lang="en-IN" sz="1400" spc="-25" dirty="0">
                <a:latin typeface="Times New Roman"/>
                <a:cs typeface="Times New Roman"/>
              </a:rPr>
              <a:t>UIC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Chandigarh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University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9760"/>
            <a:ext cx="5955996" cy="46306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Times New Roman"/>
                <a:cs typeface="Times New Roman"/>
              </a:rPr>
              <a:t>ACKNOWLEDGMENT</a:t>
            </a:r>
            <a:endParaRPr sz="2000" dirty="0">
              <a:latin typeface="Times New Roman"/>
              <a:cs typeface="Times New Roman"/>
            </a:endParaRPr>
          </a:p>
          <a:p>
            <a:pPr marL="12700" marR="29845">
              <a:lnSpc>
                <a:spcPct val="143700"/>
              </a:lnSpc>
              <a:spcBef>
                <a:spcPts val="969"/>
              </a:spcBef>
            </a:pP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take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immense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pleasure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expressing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sincere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gratitude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respected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guide,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Mr.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Rajat </a:t>
            </a:r>
            <a:r>
              <a:rPr sz="1600" dirty="0">
                <a:latin typeface="Times New Roman"/>
                <a:cs typeface="Times New Roman"/>
              </a:rPr>
              <a:t>Patial,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Assistant Professor, </a:t>
            </a:r>
            <a:r>
              <a:rPr sz="1600" spc="-10" dirty="0">
                <a:latin typeface="Times New Roman"/>
                <a:cs typeface="Times New Roman"/>
              </a:rPr>
              <a:t>Department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Computer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Applications</a:t>
            </a:r>
            <a:r>
              <a:rPr sz="1600" dirty="0">
                <a:latin typeface="Times New Roman"/>
                <a:cs typeface="Times New Roman"/>
              </a:rPr>
              <a:t>, </a:t>
            </a:r>
            <a:r>
              <a:rPr sz="1600" spc="-10" dirty="0">
                <a:latin typeface="Times New Roman"/>
                <a:cs typeface="Times New Roman"/>
              </a:rPr>
              <a:t>Chandigarh </a:t>
            </a:r>
            <a:r>
              <a:rPr sz="1600" dirty="0">
                <a:latin typeface="Times New Roman"/>
                <a:cs typeface="Times New Roman"/>
              </a:rPr>
              <a:t>University,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his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constant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support, valuable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guidance,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encouragement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throughout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this </a:t>
            </a:r>
            <a:r>
              <a:rPr sz="1600" dirty="0">
                <a:latin typeface="Times New Roman"/>
                <a:cs typeface="Times New Roman"/>
              </a:rPr>
              <a:t>project.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expertise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advice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instrumental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successful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completion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our </a:t>
            </a:r>
            <a:r>
              <a:rPr sz="1600" spc="-10" dirty="0">
                <a:latin typeface="Times New Roman"/>
                <a:cs typeface="Times New Roman"/>
              </a:rPr>
              <a:t>project.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43600"/>
              </a:lnSpc>
            </a:pP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wish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thank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Department 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Computer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Applications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Chandigarh </a:t>
            </a:r>
            <a:r>
              <a:rPr sz="1600" dirty="0">
                <a:latin typeface="Times New Roman"/>
                <a:cs typeface="Times New Roman"/>
              </a:rPr>
              <a:t>University,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excellent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environment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facilities 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carry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 our</a:t>
            </a:r>
            <a:r>
              <a:rPr sz="1600" spc="-10" dirty="0">
                <a:latin typeface="Times New Roman"/>
                <a:cs typeface="Times New Roman"/>
              </a:rPr>
              <a:t> project </a:t>
            </a:r>
            <a:r>
              <a:rPr sz="1600" dirty="0">
                <a:latin typeface="Times New Roman"/>
                <a:cs typeface="Times New Roman"/>
              </a:rPr>
              <a:t>work.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Finally, we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extend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our thanks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friends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family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their </a:t>
            </a:r>
            <a:r>
              <a:rPr sz="1600" spc="-10" dirty="0">
                <a:latin typeface="Times New Roman"/>
                <a:cs typeface="Times New Roman"/>
              </a:rPr>
              <a:t>constant </a:t>
            </a:r>
            <a:r>
              <a:rPr sz="1600" dirty="0">
                <a:latin typeface="Times New Roman"/>
                <a:cs typeface="Times New Roman"/>
              </a:rPr>
              <a:t>motivation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during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entire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period.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69086"/>
            <a:ext cx="5495290" cy="7315208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b="1" spc="-10" dirty="0">
                <a:latin typeface="Times New Roman"/>
                <a:cs typeface="Times New Roman"/>
              </a:rPr>
              <a:t>INTRODUCTION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operating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become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backbone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modern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computing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environments.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It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secure, stable,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foundation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servers, networks,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personal</a:t>
            </a:r>
            <a:r>
              <a:rPr sz="1400" spc="5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 organizations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grow,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accounts,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becomes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a </a:t>
            </a:r>
            <a:r>
              <a:rPr sz="1400" dirty="0">
                <a:latin typeface="Times New Roman"/>
                <a:cs typeface="Times New Roman"/>
              </a:rPr>
              <a:t>critical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task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authorized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personnel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modify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resources.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This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 just about efficiency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 also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about protecting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sensitive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delve </a:t>
            </a:r>
            <a:r>
              <a:rPr sz="1400" dirty="0">
                <a:latin typeface="Times New Roman"/>
                <a:cs typeface="Times New Roman"/>
              </a:rPr>
              <a:t>deeper into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system-level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operations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rights,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privileges,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management, highlighting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best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 </a:t>
            </a:r>
            <a:r>
              <a:rPr sz="1400" dirty="0">
                <a:latin typeface="Times New Roman"/>
                <a:cs typeface="Times New Roman"/>
              </a:rPr>
              <a:t>administration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cybersecurity.</a:t>
            </a:r>
            <a:endParaRPr sz="1400" dirty="0">
              <a:latin typeface="Times New Roman"/>
              <a:cs typeface="Times New Roman"/>
            </a:endParaRPr>
          </a:p>
          <a:p>
            <a:pPr marL="12700" marR="280035">
              <a:lnSpc>
                <a:spcPct val="143700"/>
              </a:lnSpc>
              <a:spcBef>
                <a:spcPts val="600"/>
              </a:spcBef>
            </a:pP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most widely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operating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world,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stability, </a:t>
            </a:r>
            <a:r>
              <a:rPr sz="1400" dirty="0">
                <a:latin typeface="Times New Roman"/>
                <a:cs typeface="Times New Roman"/>
              </a:rPr>
              <a:t>flexibility,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open-</a:t>
            </a:r>
            <a:r>
              <a:rPr sz="1400" dirty="0">
                <a:latin typeface="Times New Roman"/>
                <a:cs typeface="Times New Roman"/>
              </a:rPr>
              <a:t>source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nature.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responsibilities 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 </a:t>
            </a:r>
            <a:r>
              <a:rPr sz="1400" dirty="0">
                <a:latin typeface="Times New Roman"/>
                <a:cs typeface="Times New Roman"/>
              </a:rPr>
              <a:t>administrator 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users, groups,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effectively.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Proper management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ensures that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authorized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individuals can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resources, </a:t>
            </a:r>
            <a:r>
              <a:rPr sz="1400" dirty="0">
                <a:latin typeface="Times New Roman"/>
                <a:cs typeface="Times New Roman"/>
              </a:rPr>
              <a:t>preventing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misuse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maintaining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integrity.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40640">
              <a:lnSpc>
                <a:spcPct val="144200"/>
              </a:lnSpc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focuses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implementing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fundamental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principles of</a:t>
            </a:r>
            <a:r>
              <a:rPr sz="1400" spc="-10" dirty="0">
                <a:latin typeface="Times New Roman"/>
                <a:cs typeface="Times New Roman"/>
              </a:rPr>
              <a:t> Linux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—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particularly, user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management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 control. 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tasks </a:t>
            </a:r>
            <a:r>
              <a:rPr sz="1400" dirty="0">
                <a:latin typeface="Times New Roman"/>
                <a:cs typeface="Times New Roman"/>
              </a:rPr>
              <a:t>performed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deleting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groups,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assigning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applying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Lists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(ACLs)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granular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</a:t>
            </a:r>
            <a:r>
              <a:rPr sz="1400" spc="-10" dirty="0">
                <a:latin typeface="Times New Roman"/>
                <a:cs typeface="Times New Roman"/>
              </a:rPr>
              <a:t> management.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2842" y="762000"/>
            <a:ext cx="5466715" cy="682872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b="1" spc="-10" dirty="0">
                <a:latin typeface="Times New Roman"/>
                <a:cs typeface="Times New Roman"/>
              </a:rPr>
              <a:t>OBJECTIVE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 aims 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combine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theoretical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implementation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Linux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management. By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completing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intended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execute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comprehend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underlying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functionality. Our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objective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also </a:t>
            </a:r>
            <a:r>
              <a:rPr sz="1400" dirty="0">
                <a:latin typeface="Times New Roman"/>
                <a:cs typeface="Times New Roman"/>
              </a:rPr>
              <a:t>includes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about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configuration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like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/etc/passwd,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/etc/shadow, 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/etc/group,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store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vital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user-</a:t>
            </a:r>
            <a:r>
              <a:rPr sz="1400" dirty="0">
                <a:latin typeface="Times New Roman"/>
                <a:cs typeface="Times New Roman"/>
              </a:rPr>
              <a:t>related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Another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objective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 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explore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ACLs </a:t>
            </a:r>
            <a:r>
              <a:rPr sz="1400" spc="-10" dirty="0">
                <a:latin typeface="Times New Roman"/>
                <a:cs typeface="Times New Roman"/>
              </a:rPr>
              <a:t>(Access </a:t>
            </a:r>
            <a:r>
              <a:rPr sz="1400" dirty="0">
                <a:latin typeface="Times New Roman"/>
                <a:cs typeface="Times New Roman"/>
              </a:rPr>
              <a:t>Control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Lists)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traditional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allowing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administrators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 permissions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at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granular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level,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thus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flexibility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across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system.</a:t>
            </a:r>
            <a:endParaRPr sz="1400" dirty="0">
              <a:latin typeface="Times New Roman"/>
              <a:cs typeface="Times New Roman"/>
            </a:endParaRPr>
          </a:p>
          <a:p>
            <a:pPr marL="12700" marR="277495">
              <a:lnSpc>
                <a:spcPct val="143600"/>
              </a:lnSpc>
              <a:spcBef>
                <a:spcPts val="6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 objective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 project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 manage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users, </a:t>
            </a:r>
            <a:r>
              <a:rPr sz="1400" dirty="0">
                <a:latin typeface="Times New Roman"/>
                <a:cs typeface="Times New Roman"/>
              </a:rPr>
              <a:t>groups,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effectively.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 aims 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ability</a:t>
            </a:r>
            <a:r>
              <a:rPr sz="1400" spc="-25" dirty="0">
                <a:latin typeface="Times New Roman"/>
                <a:cs typeface="Times New Roman"/>
              </a:rPr>
              <a:t> to: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Add,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modify,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delete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groups.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Assign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directory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 based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organizational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needs.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Implement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Lists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(ACLs)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fine-grained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80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Ensure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efficient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management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339725">
              <a:lnSpc>
                <a:spcPct val="145500"/>
              </a:lnSpc>
            </a:pP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strengthen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knowledge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security.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69086"/>
            <a:ext cx="5488305" cy="892911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b="1" dirty="0">
                <a:latin typeface="Times New Roman"/>
                <a:cs typeface="Times New Roman"/>
              </a:rPr>
              <a:t>TASKS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PERFORMED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PROCEDURE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addition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standard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 operations,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experimented 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scenarios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 system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response.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restricted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specific </a:t>
            </a:r>
            <a:r>
              <a:rPr sz="1400" dirty="0">
                <a:latin typeface="Times New Roman"/>
                <a:cs typeface="Times New Roman"/>
              </a:rPr>
              <a:t>directories, tested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ownership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transfers,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implemented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collaboration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also </a:t>
            </a:r>
            <a:r>
              <a:rPr sz="1400" dirty="0">
                <a:latin typeface="Times New Roman"/>
                <a:cs typeface="Times New Roman"/>
              </a:rPr>
              <a:t>studied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differences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 ownership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ownership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files,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changing </a:t>
            </a:r>
            <a:r>
              <a:rPr sz="1400" dirty="0">
                <a:latin typeface="Times New Roman"/>
                <a:cs typeface="Times New Roman"/>
              </a:rPr>
              <a:t>permissions can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impact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accessibility.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Furthermore,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explored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logs 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verify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actions </a:t>
            </a:r>
            <a:r>
              <a:rPr sz="1400" dirty="0">
                <a:latin typeface="Times New Roman"/>
                <a:cs typeface="Times New Roman"/>
              </a:rPr>
              <a:t>performed,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traceability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accountability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tasks.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steps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achieve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objectives 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 </a:t>
            </a:r>
            <a:r>
              <a:rPr sz="1400" spc="-10" dirty="0">
                <a:latin typeface="Times New Roman"/>
                <a:cs typeface="Times New Roman"/>
              </a:rPr>
              <a:t>project: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buAutoNum type="arabicPeriod"/>
              <a:tabLst>
                <a:tab pos="154940" algn="l"/>
              </a:tabLst>
            </a:pPr>
            <a:r>
              <a:rPr sz="1400" b="1" dirty="0">
                <a:latin typeface="Times New Roman"/>
                <a:cs typeface="Times New Roman"/>
              </a:rPr>
              <a:t>**User Creation:**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new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`useradd`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passwords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using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imes New Roman"/>
                <a:cs typeface="Times New Roman"/>
              </a:rPr>
              <a:t>`passwd`.</a:t>
            </a:r>
            <a:endParaRPr sz="14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80"/>
              </a:spcBef>
              <a:buAutoNum type="arabicPeriod" startAt="2"/>
              <a:tabLst>
                <a:tab pos="154940" algn="l"/>
              </a:tabLst>
            </a:pPr>
            <a:r>
              <a:rPr sz="1400" b="1" dirty="0">
                <a:latin typeface="Times New Roman"/>
                <a:cs typeface="Times New Roman"/>
              </a:rPr>
              <a:t>**Group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Creation:**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`groupadd`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assigned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using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dirty="0">
                <a:latin typeface="Times New Roman"/>
                <a:cs typeface="Times New Roman"/>
              </a:rPr>
              <a:t>`usermod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-</a:t>
            </a:r>
            <a:r>
              <a:rPr sz="1400" spc="-20" dirty="0">
                <a:latin typeface="Times New Roman"/>
                <a:cs typeface="Times New Roman"/>
              </a:rPr>
              <a:t>aG`.</a:t>
            </a:r>
            <a:endParaRPr sz="14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154940" algn="l"/>
              </a:tabLst>
            </a:pPr>
            <a:r>
              <a:rPr sz="1400" b="1" dirty="0">
                <a:latin typeface="Times New Roman"/>
                <a:cs typeface="Times New Roman"/>
              </a:rPr>
              <a:t>**User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Modification:**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shell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types,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home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directories,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passwords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using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400" spc="-10" dirty="0">
                <a:latin typeface="Times New Roman"/>
                <a:cs typeface="Times New Roman"/>
              </a:rPr>
              <a:t>`usermod`.</a:t>
            </a:r>
            <a:endParaRPr sz="1400" dirty="0">
              <a:latin typeface="Times New Roman"/>
              <a:cs typeface="Times New Roman"/>
            </a:endParaRPr>
          </a:p>
          <a:p>
            <a:pPr marL="12700" marR="8255" indent="142240">
              <a:lnSpc>
                <a:spcPct val="143600"/>
              </a:lnSpc>
              <a:buAutoNum type="arabicPeriod" startAt="4"/>
              <a:tabLst>
                <a:tab pos="154940" algn="l"/>
              </a:tabLst>
            </a:pPr>
            <a:r>
              <a:rPr sz="1400" b="1" dirty="0">
                <a:latin typeface="Times New Roman"/>
                <a:cs typeface="Times New Roman"/>
              </a:rPr>
              <a:t>**Permission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Management:**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`chmod`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assign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read,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write,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execute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users, groups,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others.</a:t>
            </a:r>
            <a:endParaRPr sz="1400" dirty="0">
              <a:latin typeface="Times New Roman"/>
              <a:cs typeface="Times New Roman"/>
            </a:endParaRPr>
          </a:p>
          <a:p>
            <a:pPr marL="12700" marR="200660" indent="142240">
              <a:lnSpc>
                <a:spcPct val="143600"/>
              </a:lnSpc>
              <a:spcBef>
                <a:spcPts val="25"/>
              </a:spcBef>
              <a:buAutoNum type="arabicPeriod" startAt="4"/>
              <a:tabLst>
                <a:tab pos="15494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**Ownership </a:t>
            </a:r>
            <a:r>
              <a:rPr sz="1400" b="1" dirty="0">
                <a:latin typeface="Times New Roman"/>
                <a:cs typeface="Times New Roman"/>
              </a:rPr>
              <a:t>Changes:**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`chown`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`chgrp`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ownership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files 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directories.</a:t>
            </a:r>
            <a:endParaRPr sz="14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75"/>
              </a:spcBef>
              <a:buAutoNum type="arabicPeriod" startAt="4"/>
              <a:tabLst>
                <a:tab pos="154940" algn="l"/>
              </a:tabLst>
            </a:pPr>
            <a:r>
              <a:rPr sz="1400" b="1" dirty="0">
                <a:latin typeface="Times New Roman"/>
                <a:cs typeface="Times New Roman"/>
              </a:rPr>
              <a:t>**Access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Control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Lists:**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Implemented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ACLs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`setfacl`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verified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`getfacl`.</a:t>
            </a:r>
            <a:endParaRPr sz="14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80"/>
              </a:spcBef>
              <a:buAutoNum type="arabicPeriod" startAt="4"/>
              <a:tabLst>
                <a:tab pos="15494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**Verification:**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Checked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configuration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`cat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/etc/passwd` 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`cat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imes New Roman"/>
                <a:cs typeface="Times New Roman"/>
              </a:rPr>
              <a:t>/etc/group`.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69086"/>
            <a:ext cx="5483225" cy="6498446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b="1" dirty="0">
                <a:latin typeface="Times New Roman"/>
                <a:cs typeface="Times New Roman"/>
              </a:rPr>
              <a:t>COMMANDS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USED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Alongside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commands,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explored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utilities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'id' 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display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identity, </a:t>
            </a:r>
            <a:r>
              <a:rPr sz="1400" dirty="0">
                <a:latin typeface="Times New Roman"/>
                <a:cs typeface="Times New Roman"/>
              </a:rPr>
              <a:t>'su'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switching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users, 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'sudo'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executing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tasks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securely.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Understanding </a:t>
            </a:r>
            <a:r>
              <a:rPr sz="1400" dirty="0">
                <a:latin typeface="Times New Roman"/>
                <a:cs typeface="Times New Roman"/>
              </a:rPr>
              <a:t>command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syntax,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flags,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real-world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usage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scenarios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 an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learning </a:t>
            </a:r>
            <a:r>
              <a:rPr sz="1400" dirty="0">
                <a:latin typeface="Times New Roman"/>
                <a:cs typeface="Times New Roman"/>
              </a:rPr>
              <a:t>process. 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documentation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command’s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purpose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variations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observe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behavior.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400" dirty="0">
                <a:latin typeface="Times New Roman"/>
                <a:cs typeface="Times New Roman"/>
              </a:rPr>
              <a:t>Below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 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list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commands used during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project: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`useradd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&lt;username&gt;`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new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user.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`passwd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&lt;username&gt;`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user's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password.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`usermod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-</a:t>
            </a:r>
            <a:r>
              <a:rPr sz="1400" dirty="0">
                <a:latin typeface="Times New Roman"/>
                <a:cs typeface="Times New Roman"/>
              </a:rPr>
              <a:t>aG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&lt;group&gt; &lt;user&gt;` –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group.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80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`userdel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&lt;username&gt;`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Delete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20" dirty="0">
                <a:latin typeface="Times New Roman"/>
                <a:cs typeface="Times New Roman"/>
              </a:rPr>
              <a:t>user.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`groupadd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&lt;groupname&gt;`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new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group.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80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`groupdel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&lt;groupname&gt;`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Delete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10" dirty="0">
                <a:latin typeface="Times New Roman"/>
                <a:cs typeface="Times New Roman"/>
              </a:rPr>
              <a:t>group.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`chmod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&lt;permissions&gt;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&lt;file&gt;` 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directory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permissions.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`chown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&lt;owner&gt;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&lt;file&gt;`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ownership.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80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`chgrp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&lt;group&gt;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&lt;file&gt;`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ownership.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600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`setfacl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-m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u:&lt;user&gt;:rwx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&lt;file&gt;` 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permissions.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`getfacl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&lt;file&gt;`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Display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ACLs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directory.</a:t>
            </a:r>
            <a:endParaRPr sz="1400" dirty="0">
              <a:latin typeface="Times New Roman"/>
              <a:cs typeface="Times New Roman"/>
            </a:endParaRPr>
          </a:p>
          <a:p>
            <a:pPr marL="97155" indent="-84455">
              <a:lnSpc>
                <a:spcPct val="100000"/>
              </a:lnSpc>
              <a:spcBef>
                <a:spcPts val="575"/>
              </a:spcBef>
              <a:buChar char="•"/>
              <a:tabLst>
                <a:tab pos="97155" algn="l"/>
              </a:tabLst>
            </a:pPr>
            <a:r>
              <a:rPr sz="1400" dirty="0">
                <a:latin typeface="Times New Roman"/>
                <a:cs typeface="Times New Roman"/>
              </a:rPr>
              <a:t>`ls </a:t>
            </a:r>
            <a:r>
              <a:rPr sz="1400" spc="-10" dirty="0">
                <a:latin typeface="Times New Roman"/>
                <a:cs typeface="Times New Roman"/>
              </a:rPr>
              <a:t>-</a:t>
            </a:r>
            <a:r>
              <a:rPr sz="1400" dirty="0">
                <a:latin typeface="Times New Roman"/>
                <a:cs typeface="Times New Roman"/>
              </a:rPr>
              <a:t>l`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List files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detailed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ownership.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69086"/>
            <a:ext cx="5422265" cy="78483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SCREENSHOTS</a:t>
            </a: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61583"/>
            <a:ext cx="6649275" cy="35730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562600"/>
            <a:ext cx="6938302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8600"/>
            <a:ext cx="6639852" cy="29722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57" y="3238915"/>
            <a:ext cx="6935168" cy="26292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92" y="5906282"/>
            <a:ext cx="6848178" cy="381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48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69086"/>
            <a:ext cx="5464175" cy="8633004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b="1" spc="-10" dirty="0">
                <a:latin typeface="Times New Roman"/>
                <a:cs typeface="Times New Roman"/>
              </a:rPr>
              <a:t>CONCLUSION</a:t>
            </a:r>
            <a:endParaRPr sz="2000" dirty="0">
              <a:latin typeface="Times New Roman"/>
              <a:cs typeface="Times New Roman"/>
            </a:endParaRPr>
          </a:p>
          <a:p>
            <a:pPr marL="12700" marR="77470">
              <a:lnSpc>
                <a:spcPct val="1437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 project,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problem-solving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skills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 encountering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resolving </a:t>
            </a:r>
            <a:r>
              <a:rPr sz="1400" dirty="0">
                <a:latin typeface="Times New Roman"/>
                <a:cs typeface="Times New Roman"/>
              </a:rPr>
              <a:t>common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 errors.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 helped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hierarchies,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privilege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levels,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concept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least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privilege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—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principle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hands-on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enhanced </a:t>
            </a:r>
            <a:r>
              <a:rPr sz="1400" dirty="0">
                <a:latin typeface="Times New Roman"/>
                <a:cs typeface="Times New Roman"/>
              </a:rPr>
              <a:t>our confidence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handling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independently. We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recognized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these </a:t>
            </a:r>
            <a:r>
              <a:rPr sz="1400" dirty="0">
                <a:latin typeface="Times New Roman"/>
                <a:cs typeface="Times New Roman"/>
              </a:rPr>
              <a:t>fundamental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skills serve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foundation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advanced topics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 server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management,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cloud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administration.</a:t>
            </a:r>
            <a:endParaRPr sz="1400" dirty="0">
              <a:latin typeface="Times New Roman"/>
              <a:cs typeface="Times New Roman"/>
            </a:endParaRPr>
          </a:p>
          <a:p>
            <a:pPr marL="12700" marR="249554">
              <a:lnSpc>
                <a:spcPct val="143600"/>
              </a:lnSpc>
              <a:spcBef>
                <a:spcPts val="600"/>
              </a:spcBef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'User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Management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Control'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practical </a:t>
            </a:r>
            <a:r>
              <a:rPr sz="1400" dirty="0">
                <a:latin typeface="Times New Roman"/>
                <a:cs typeface="Times New Roman"/>
              </a:rPr>
              <a:t>experience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 managing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 users,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groups,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permissions.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ensure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integrity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setting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appropriate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applying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ACLs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specific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user-based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permissions.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95250">
              <a:lnSpc>
                <a:spcPct val="143600"/>
              </a:lnSpc>
            </a:pP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 project,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enhanced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interface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gained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confidence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tasks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efficiently.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skills learned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this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crucial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involving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administration.</a:t>
            </a:r>
            <a:endParaRPr sz="1400" dirty="0">
              <a:latin typeface="Times New Roman"/>
              <a:cs typeface="Times New Roman"/>
            </a:endParaRPr>
          </a:p>
          <a:p>
            <a:pPr marL="12700" marR="12065">
              <a:lnSpc>
                <a:spcPct val="144000"/>
              </a:lnSpc>
              <a:spcBef>
                <a:spcPts val="600"/>
              </a:spcBef>
            </a:pPr>
            <a:r>
              <a:rPr sz="1400" dirty="0">
                <a:latin typeface="Times New Roman"/>
                <a:cs typeface="Times New Roman"/>
              </a:rPr>
              <a:t>Linux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extensively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enterprise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servers,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cloud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deployments,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embedded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In</a:t>
            </a:r>
            <a:r>
              <a:rPr sz="1400" spc="5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 only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practiced command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usage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 examined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real-world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scenarios </a:t>
            </a:r>
            <a:r>
              <a:rPr sz="1400" spc="-20" dirty="0">
                <a:latin typeface="Times New Roman"/>
                <a:cs typeface="Times New Roman"/>
              </a:rPr>
              <a:t>such</a:t>
            </a:r>
            <a:r>
              <a:rPr sz="1400" spc="5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multi-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collaboration,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permission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inheritance,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mitigation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accidental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exposure.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discuss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typical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workflows, including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account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lifecycle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(creation,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maintenance,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decommissioning), automated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provisioning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considerations, 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basic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practices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enforcing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strong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passwords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limiting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sudo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privileges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trusted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accounts.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533401"/>
            <a:ext cx="5720384" cy="83184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600"/>
              </a:spcBef>
            </a:pPr>
            <a:r>
              <a:rPr lang="en-US" sz="1400" dirty="0">
                <a:latin typeface="Times New Roman"/>
                <a:cs typeface="Times New Roman"/>
              </a:rPr>
              <a:t>During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lab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sessions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we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simulated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departmental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share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where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different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roles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required </a:t>
            </a:r>
            <a:r>
              <a:rPr lang="en-US" sz="1400" dirty="0">
                <a:latin typeface="Times New Roman"/>
                <a:cs typeface="Times New Roman"/>
              </a:rPr>
              <a:t>different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access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levels. We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created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groups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such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'developers', 'testers', and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'admins'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10" dirty="0">
                <a:latin typeface="Times New Roman"/>
                <a:cs typeface="Times New Roman"/>
              </a:rPr>
              <a:t> mapped </a:t>
            </a:r>
            <a:r>
              <a:rPr lang="en-US" sz="1400" dirty="0">
                <a:latin typeface="Times New Roman"/>
                <a:cs typeface="Times New Roman"/>
              </a:rPr>
              <a:t>directory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permissions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accordingly.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also demonstrated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revoke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access cleanly,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how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'</a:t>
            </a:r>
            <a:r>
              <a:rPr lang="en-US" sz="1400" dirty="0" err="1">
                <a:latin typeface="Times New Roman"/>
                <a:cs typeface="Times New Roman"/>
              </a:rPr>
              <a:t>getfacl</a:t>
            </a:r>
            <a:r>
              <a:rPr lang="en-US" sz="1400" dirty="0">
                <a:latin typeface="Times New Roman"/>
                <a:cs typeface="Times New Roman"/>
              </a:rPr>
              <a:t>'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output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audit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who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has access</a:t>
            </a:r>
            <a:r>
              <a:rPr lang="en-US" sz="1400" spc="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sensitive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files.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Finally,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scripted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common </a:t>
            </a:r>
            <a:r>
              <a:rPr lang="en-US" sz="1400" dirty="0">
                <a:latin typeface="Times New Roman"/>
                <a:cs typeface="Times New Roman"/>
              </a:rPr>
              <a:t>repetitive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administration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tasks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(user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creation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with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default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home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directories, assigning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groups,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and </a:t>
            </a:r>
            <a:r>
              <a:rPr lang="en-US" sz="1400" dirty="0">
                <a:latin typeface="Times New Roman"/>
                <a:cs typeface="Times New Roman"/>
              </a:rPr>
              <a:t>applying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ACL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templates)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highlight how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automation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reduces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human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error.</a:t>
            </a:r>
            <a:endParaRPr lang="en-US"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lang="en-US" sz="2000" dirty="0">
                <a:latin typeface="Times New Roman"/>
                <a:cs typeface="Times New Roman"/>
              </a:rPr>
              <a:t>Examples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with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context:</a:t>
            </a:r>
            <a:endParaRPr lang="en-US" sz="2000" dirty="0">
              <a:latin typeface="Times New Roman"/>
              <a:cs typeface="Times New Roman"/>
            </a:endParaRPr>
          </a:p>
          <a:p>
            <a:pPr marL="119380" marR="2543810" indent="-107314">
              <a:lnSpc>
                <a:spcPct val="143600"/>
              </a:lnSpc>
              <a:buAutoNum type="arabicPeriod"/>
              <a:tabLst>
                <a:tab pos="119380" algn="l"/>
                <a:tab pos="15113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	Create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user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with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home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directory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bash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shell: </a:t>
            </a:r>
            <a:r>
              <a:rPr lang="en-US" sz="1400" dirty="0" err="1">
                <a:latin typeface="Times New Roman"/>
                <a:cs typeface="Times New Roman"/>
              </a:rPr>
              <a:t>useradd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-m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-</a:t>
            </a:r>
            <a:r>
              <a:rPr lang="en-US" sz="1400" dirty="0">
                <a:latin typeface="Times New Roman"/>
                <a:cs typeface="Times New Roman"/>
              </a:rPr>
              <a:t>s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/bin/bash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spc="-10" dirty="0" err="1">
                <a:latin typeface="Times New Roman"/>
                <a:cs typeface="Times New Roman"/>
              </a:rPr>
              <a:t>alice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Times New Roman"/>
              <a:buAutoNum type="arabicPeriod"/>
            </a:pPr>
            <a:endParaRPr lang="en-US" sz="14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buAutoNum type="arabicPeriod"/>
              <a:tabLst>
                <a:tab pos="15494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Add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user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multiple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groups:</a:t>
            </a:r>
            <a:endParaRPr lang="en-US" sz="1400" dirty="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sz="1400" dirty="0" err="1">
                <a:latin typeface="Times New Roman"/>
                <a:cs typeface="Times New Roman"/>
              </a:rPr>
              <a:t>usermod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-</a:t>
            </a:r>
            <a:r>
              <a:rPr sz="1400" dirty="0">
                <a:latin typeface="Times New Roman"/>
                <a:cs typeface="Times New Roman"/>
              </a:rPr>
              <a:t>aG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developers,sudo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alice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19380" marR="1215390" indent="-107314">
              <a:lnSpc>
                <a:spcPct val="143900"/>
              </a:lnSpc>
              <a:buAutoNum type="arabicPeriod" startAt="3"/>
              <a:tabLst>
                <a:tab pos="119380" algn="l"/>
                <a:tab pos="151130" algn="l"/>
              </a:tabLst>
            </a:pPr>
            <a:r>
              <a:rPr sz="1400" dirty="0">
                <a:latin typeface="Times New Roman"/>
                <a:cs typeface="Times New Roman"/>
              </a:rPr>
              <a:t>	Set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default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allowing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'developers'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group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full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control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/srv/project: </a:t>
            </a:r>
            <a:r>
              <a:rPr sz="1400" dirty="0">
                <a:latin typeface="Times New Roman"/>
                <a:cs typeface="Times New Roman"/>
              </a:rPr>
              <a:t>setfacl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g:developers:rwx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/srv/project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Font typeface="Times New Roman"/>
              <a:buAutoNum type="arabicPeriod" startAt="3"/>
            </a:pPr>
            <a:endParaRPr sz="1400" dirty="0">
              <a:latin typeface="Times New Roman"/>
              <a:cs typeface="Times New Roman"/>
            </a:endParaRPr>
          </a:p>
          <a:p>
            <a:pPr marL="151765" indent="-139065">
              <a:lnSpc>
                <a:spcPct val="100000"/>
              </a:lnSpc>
              <a:buAutoNum type="arabicPeriod" startAt="3"/>
              <a:tabLst>
                <a:tab pos="151765" algn="l"/>
              </a:tabLst>
            </a:pPr>
            <a:r>
              <a:rPr sz="1400" dirty="0">
                <a:latin typeface="Times New Roman"/>
                <a:cs typeface="Times New Roman"/>
              </a:rPr>
              <a:t>Remove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preserve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home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directory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auditing:</a:t>
            </a:r>
            <a:endParaRPr sz="1400" dirty="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spcBef>
                <a:spcPts val="580"/>
              </a:spcBef>
            </a:pPr>
            <a:r>
              <a:rPr sz="1400" dirty="0">
                <a:latin typeface="Times New Roman"/>
                <a:cs typeface="Times New Roman"/>
              </a:rPr>
              <a:t>userdel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-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alice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421005">
              <a:lnSpc>
                <a:spcPct val="190900"/>
              </a:lnSpc>
            </a:pP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show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usage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explain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flags. </a:t>
            </a:r>
            <a:r>
              <a:rPr sz="1400" dirty="0">
                <a:latin typeface="Times New Roman"/>
                <a:cs typeface="Times New Roman"/>
              </a:rPr>
              <a:t>Sample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output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excerpts</a:t>
            </a:r>
            <a:r>
              <a:rPr sz="1400" spc="-10" dirty="0">
                <a:latin typeface="Times New Roman"/>
                <a:cs typeface="Times New Roman"/>
              </a:rPr>
              <a:t> (formatted):</a:t>
            </a:r>
            <a:endParaRPr sz="1400" dirty="0">
              <a:latin typeface="Times New Roman"/>
              <a:cs typeface="Times New Roman"/>
            </a:endParaRPr>
          </a:p>
          <a:p>
            <a:pPr marL="119380" marR="2787650" lvl="1" indent="-70485">
              <a:lnSpc>
                <a:spcPts val="1900"/>
              </a:lnSpc>
              <a:spcBef>
                <a:spcPts val="160"/>
              </a:spcBef>
              <a:buChar char="-"/>
              <a:tabLst>
                <a:tab pos="119380" algn="l"/>
                <a:tab pos="130810" algn="l"/>
              </a:tabLst>
            </a:pPr>
            <a:r>
              <a:rPr sz="1400" dirty="0">
                <a:latin typeface="Times New Roman"/>
                <a:cs typeface="Times New Roman"/>
              </a:rPr>
              <a:t>	/etc/passwd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entry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'alice': alice:x:1001:1001:Alice:/home/alice:/bin/bash</a:t>
            </a:r>
            <a:endParaRPr sz="1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45"/>
              </a:spcBef>
              <a:buFont typeface="Times New Roman"/>
              <a:buChar char="-"/>
            </a:pP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533400"/>
            <a:ext cx="5721654" cy="83049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 lvl="1" indent="-81915">
              <a:lnSpc>
                <a:spcPct val="100000"/>
              </a:lnSpc>
              <a:buChar char="-"/>
              <a:tabLst>
                <a:tab pos="130810" algn="l"/>
              </a:tabLst>
            </a:pPr>
            <a:r>
              <a:rPr lang="en-US" sz="1400" dirty="0" err="1">
                <a:latin typeface="Times New Roman"/>
                <a:cs typeface="Times New Roman"/>
              </a:rPr>
              <a:t>getfacl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/</a:t>
            </a:r>
            <a:r>
              <a:rPr lang="en-US" sz="1400" dirty="0" err="1">
                <a:latin typeface="Times New Roman"/>
                <a:cs typeface="Times New Roman"/>
              </a:rPr>
              <a:t>srv</a:t>
            </a:r>
            <a:r>
              <a:rPr lang="en-US" sz="1400" dirty="0">
                <a:latin typeface="Times New Roman"/>
                <a:cs typeface="Times New Roman"/>
              </a:rPr>
              <a:t>/project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sample:</a:t>
            </a:r>
            <a:endParaRPr lang="en-US" sz="1400" dirty="0">
              <a:latin typeface="Times New Roman"/>
              <a:cs typeface="Times New Roman"/>
            </a:endParaRPr>
          </a:p>
          <a:p>
            <a:pPr marL="119380" marR="4381500">
              <a:lnSpc>
                <a:spcPct val="143700"/>
              </a:lnSpc>
            </a:pPr>
            <a:r>
              <a:rPr lang="en-US" sz="1400" dirty="0">
                <a:latin typeface="Times New Roman"/>
                <a:cs typeface="Times New Roman"/>
              </a:rPr>
              <a:t># file: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/</a:t>
            </a:r>
            <a:r>
              <a:rPr lang="en-US" sz="1400" spc="-10" dirty="0" err="1">
                <a:latin typeface="Times New Roman"/>
                <a:cs typeface="Times New Roman"/>
              </a:rPr>
              <a:t>srv</a:t>
            </a:r>
            <a:r>
              <a:rPr lang="en-US" sz="1400" spc="-10" dirty="0">
                <a:latin typeface="Times New Roman"/>
                <a:cs typeface="Times New Roman"/>
              </a:rPr>
              <a:t>/project user::</a:t>
            </a:r>
            <a:r>
              <a:rPr lang="en-US" sz="1400" spc="-10" dirty="0" err="1">
                <a:latin typeface="Times New Roman"/>
                <a:cs typeface="Times New Roman"/>
              </a:rPr>
              <a:t>rwx</a:t>
            </a:r>
            <a:r>
              <a:rPr lang="en-US" sz="1400" spc="-10" dirty="0">
                <a:latin typeface="Times New Roman"/>
                <a:cs typeface="Times New Roman"/>
              </a:rPr>
              <a:t> group::r-</a:t>
            </a:r>
            <a:r>
              <a:rPr lang="en-US" sz="1400" spc="-50" dirty="0">
                <a:latin typeface="Times New Roman"/>
                <a:cs typeface="Times New Roman"/>
              </a:rPr>
              <a:t>x </a:t>
            </a:r>
            <a:r>
              <a:rPr lang="en-US" sz="1400" spc="-10" dirty="0" err="1">
                <a:latin typeface="Times New Roman"/>
                <a:cs typeface="Times New Roman"/>
              </a:rPr>
              <a:t>user:alice:rwx</a:t>
            </a:r>
            <a:endParaRPr lang="en-US" sz="1400" dirty="0">
              <a:latin typeface="Times New Roman"/>
              <a:cs typeface="Times New Roman"/>
            </a:endParaRPr>
          </a:p>
          <a:p>
            <a:pPr marL="119380" marR="4154804">
              <a:lnSpc>
                <a:spcPct val="143600"/>
              </a:lnSpc>
            </a:pPr>
            <a:r>
              <a:rPr lang="en-US" sz="1400" spc="-10" dirty="0" err="1">
                <a:latin typeface="Times New Roman"/>
                <a:cs typeface="Times New Roman"/>
              </a:rPr>
              <a:t>group:developers:rwx</a:t>
            </a:r>
            <a:r>
              <a:rPr lang="en-US" sz="1400" spc="-10" dirty="0">
                <a:latin typeface="Times New Roman"/>
                <a:cs typeface="Times New Roman"/>
              </a:rPr>
              <a:t> mask::</a:t>
            </a:r>
            <a:r>
              <a:rPr lang="en-US" sz="1400" spc="-10" dirty="0" err="1">
                <a:latin typeface="Times New Roman"/>
                <a:cs typeface="Times New Roman"/>
              </a:rPr>
              <a:t>rwx</a:t>
            </a:r>
            <a:endParaRPr lang="en-US" sz="1400" dirty="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spcBef>
                <a:spcPts val="575"/>
              </a:spcBef>
            </a:pPr>
            <a:r>
              <a:rPr lang="en-US" sz="1400" spc="-10" dirty="0">
                <a:latin typeface="Times New Roman"/>
                <a:cs typeface="Times New Roman"/>
              </a:rPr>
              <a:t>other::r-</a:t>
            </a:r>
            <a:r>
              <a:rPr lang="en-US" sz="1400" spc="-50" dirty="0">
                <a:latin typeface="Times New Roman"/>
                <a:cs typeface="Times New Roman"/>
              </a:rPr>
              <a:t>-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lang="en-US"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400" dirty="0">
                <a:latin typeface="Times New Roman"/>
                <a:cs typeface="Times New Roman"/>
              </a:rPr>
              <a:t>These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outputs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validate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that ownership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ACL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entries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were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applied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expected.</a:t>
            </a:r>
            <a:endParaRPr lang="en-US" sz="1400" dirty="0">
              <a:latin typeface="Times New Roman"/>
              <a:cs typeface="Times New Roman"/>
            </a:endParaRPr>
          </a:p>
          <a:p>
            <a:pPr marL="12700" marR="123189">
              <a:lnSpc>
                <a:spcPct val="144100"/>
              </a:lnSpc>
              <a:spcBef>
                <a:spcPts val="595"/>
              </a:spcBef>
            </a:pPr>
            <a:r>
              <a:rPr lang="en-US" sz="1400" dirty="0">
                <a:latin typeface="Times New Roman"/>
                <a:cs typeface="Times New Roman"/>
              </a:rPr>
              <a:t>Moving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forward, recommended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improvements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include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integrating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centralized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authentication </a:t>
            </a:r>
            <a:r>
              <a:rPr lang="en-US" sz="1400" dirty="0">
                <a:latin typeface="Times New Roman"/>
                <a:cs typeface="Times New Roman"/>
              </a:rPr>
              <a:t>(LDAP or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Active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Directory), regular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permission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audits,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role-based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access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control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(RBAC) </a:t>
            </a:r>
            <a:r>
              <a:rPr lang="en-US" sz="1400" dirty="0">
                <a:latin typeface="Times New Roman"/>
                <a:cs typeface="Times New Roman"/>
              </a:rPr>
              <a:t>implementations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for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larger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environments.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Understanding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these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basics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prepares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administrators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to </a:t>
            </a:r>
            <a:r>
              <a:rPr lang="en-US" sz="1400" dirty="0">
                <a:latin typeface="Times New Roman"/>
                <a:cs typeface="Times New Roman"/>
              </a:rPr>
              <a:t>manage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more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complex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infrastructures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adopt best</a:t>
            </a:r>
            <a:r>
              <a:rPr lang="en-US" sz="1400" spc="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practices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that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improve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both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security </a:t>
            </a:r>
            <a:r>
              <a:rPr lang="en-US" sz="1400" dirty="0">
                <a:latin typeface="Times New Roman"/>
                <a:cs typeface="Times New Roman"/>
              </a:rPr>
              <a:t>posture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operational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efficiency.</a:t>
            </a:r>
            <a:endParaRPr lang="en-US"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lang="en-US" sz="2000" b="1" spc="-10" dirty="0">
                <a:latin typeface="Times New Roman"/>
                <a:cs typeface="Times New Roman"/>
              </a:rPr>
              <a:t>APPENDIX</a:t>
            </a:r>
            <a:r>
              <a:rPr lang="en-US" sz="2000" b="1" spc="-1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A: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Troubleshooting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spc="-20" dirty="0">
                <a:latin typeface="Times New Roman"/>
                <a:cs typeface="Times New Roman"/>
              </a:rPr>
              <a:t>Notes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2700" marR="5080" indent="142240">
              <a:lnSpc>
                <a:spcPct val="143600"/>
              </a:lnSpc>
              <a:buAutoNum type="arabicPeriod"/>
              <a:tabLst>
                <a:tab pos="15494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'Permission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denied'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while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using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sudo</a:t>
            </a:r>
            <a:r>
              <a:rPr lang="en-US" sz="1400" dirty="0">
                <a:latin typeface="Times New Roman"/>
                <a:cs typeface="Times New Roman"/>
              </a:rPr>
              <a:t>: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ensure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user</a:t>
            </a:r>
            <a:r>
              <a:rPr lang="en-US" sz="1400" spc="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is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'</a:t>
            </a:r>
            <a:r>
              <a:rPr lang="en-US" sz="1400" dirty="0" err="1">
                <a:latin typeface="Times New Roman"/>
                <a:cs typeface="Times New Roman"/>
              </a:rPr>
              <a:t>sudo</a:t>
            </a:r>
            <a:r>
              <a:rPr lang="en-US" sz="1400" dirty="0">
                <a:latin typeface="Times New Roman"/>
                <a:cs typeface="Times New Roman"/>
              </a:rPr>
              <a:t>'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group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that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/</a:t>
            </a:r>
            <a:r>
              <a:rPr lang="en-US" sz="1400" spc="-10" dirty="0" err="1">
                <a:latin typeface="Times New Roman"/>
                <a:cs typeface="Times New Roman"/>
              </a:rPr>
              <a:t>etc</a:t>
            </a:r>
            <a:r>
              <a:rPr lang="en-US" sz="1400" spc="-10" dirty="0">
                <a:latin typeface="Times New Roman"/>
                <a:cs typeface="Times New Roman"/>
              </a:rPr>
              <a:t>/</a:t>
            </a:r>
            <a:r>
              <a:rPr lang="en-US" sz="1400" spc="-10" dirty="0" err="1">
                <a:latin typeface="Times New Roman"/>
                <a:cs typeface="Times New Roman"/>
              </a:rPr>
              <a:t>sudoers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hasn't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been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modified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incorrectly.</a:t>
            </a:r>
            <a:endParaRPr lang="en-US" sz="1400" dirty="0">
              <a:latin typeface="Times New Roman"/>
              <a:cs typeface="Times New Roman"/>
            </a:endParaRPr>
          </a:p>
          <a:p>
            <a:pPr marL="12700" marR="20955" indent="142240">
              <a:lnSpc>
                <a:spcPct val="143700"/>
              </a:lnSpc>
              <a:buAutoNum type="arabicPeriod"/>
              <a:tabLst>
                <a:tab pos="15494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ACLs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not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taking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effect: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check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underlying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filesystem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supports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POSIX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ACLs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(e.g., ext4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spc="-20" dirty="0">
                <a:latin typeface="Times New Roman"/>
                <a:cs typeface="Times New Roman"/>
              </a:rPr>
              <a:t>with </a:t>
            </a:r>
            <a:r>
              <a:rPr lang="en-US" sz="1400" dirty="0" err="1">
                <a:latin typeface="Times New Roman"/>
                <a:cs typeface="Times New Roman"/>
              </a:rPr>
              <a:t>acl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enabled).</a:t>
            </a:r>
            <a:endParaRPr lang="en-US" sz="1400" dirty="0">
              <a:latin typeface="Times New Roman"/>
              <a:cs typeface="Times New Roman"/>
            </a:endParaRPr>
          </a:p>
          <a:p>
            <a:pPr marL="12700" marR="299720">
              <a:lnSpc>
                <a:spcPct val="143600"/>
              </a:lnSpc>
              <a:spcBef>
                <a:spcPts val="100"/>
              </a:spcBef>
              <a:tabLst>
                <a:tab pos="15494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3.Home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directory missing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after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userdel</a:t>
            </a:r>
            <a:r>
              <a:rPr lang="en-US" sz="1400" dirty="0">
                <a:latin typeface="Times New Roman"/>
                <a:cs typeface="Times New Roman"/>
              </a:rPr>
              <a:t>: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'</a:t>
            </a:r>
            <a:r>
              <a:rPr lang="en-US" sz="1400" dirty="0" err="1">
                <a:latin typeface="Times New Roman"/>
                <a:cs typeface="Times New Roman"/>
              </a:rPr>
              <a:t>userdel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-</a:t>
            </a:r>
            <a:r>
              <a:rPr lang="en-US" sz="1400" dirty="0">
                <a:latin typeface="Times New Roman"/>
                <a:cs typeface="Times New Roman"/>
              </a:rPr>
              <a:t>r'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carefully; backups are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recommended </a:t>
            </a:r>
            <a:r>
              <a:rPr lang="en-US" sz="1400" dirty="0">
                <a:latin typeface="Times New Roman"/>
                <a:cs typeface="Times New Roman"/>
              </a:rPr>
              <a:t>before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removal.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Times New Roman"/>
              <a:buAutoNum type="arabicPeriod" startAt="3"/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2A2FEB-5487-8A31-1478-254AA30FFF77}"/>
              </a:ext>
            </a:extLst>
          </p:cNvPr>
          <p:cNvSpPr txBox="1"/>
          <p:nvPr/>
        </p:nvSpPr>
        <p:spPr>
          <a:xfrm>
            <a:off x="914400" y="838200"/>
            <a:ext cx="4914900" cy="4019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2000" b="1" dirty="0">
                <a:latin typeface="Times New Roman"/>
                <a:cs typeface="Times New Roman"/>
              </a:rPr>
              <a:t>APPENDIX</a:t>
            </a:r>
            <a:r>
              <a:rPr lang="en-IN" sz="2000" b="1" spc="-2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B: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Good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Practices</a:t>
            </a:r>
            <a:endParaRPr lang="en-IN" sz="2000" dirty="0">
              <a:latin typeface="Times New Roman"/>
              <a:cs typeface="Times New Roman"/>
            </a:endParaRPr>
          </a:p>
          <a:p>
            <a:pPr marL="94615" lvl="1" indent="-81915">
              <a:lnSpc>
                <a:spcPct val="100000"/>
              </a:lnSpc>
              <a:spcBef>
                <a:spcPts val="755"/>
              </a:spcBef>
              <a:buChar char="-"/>
              <a:tabLst>
                <a:tab pos="94615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Enforce</a:t>
            </a:r>
            <a:r>
              <a:rPr lang="en-IN" sz="1600" spc="-5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password</a:t>
            </a:r>
            <a:r>
              <a:rPr lang="en-IN" sz="1600" spc="-3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policies</a:t>
            </a:r>
            <a:r>
              <a:rPr lang="en-IN" sz="1600" spc="1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with</a:t>
            </a:r>
            <a:r>
              <a:rPr lang="en-IN" sz="1600" spc="-35" dirty="0">
                <a:latin typeface="Times New Roman"/>
                <a:cs typeface="Times New Roman"/>
              </a:rPr>
              <a:t> </a:t>
            </a:r>
            <a:r>
              <a:rPr lang="en-IN" sz="1600" spc="-10" dirty="0" err="1">
                <a:latin typeface="Times New Roman"/>
                <a:cs typeface="Times New Roman"/>
              </a:rPr>
              <a:t>pam_pwquality</a:t>
            </a:r>
            <a:r>
              <a:rPr lang="en-IN" sz="1600" spc="-10" dirty="0">
                <a:latin typeface="Times New Roman"/>
                <a:cs typeface="Times New Roman"/>
              </a:rPr>
              <a:t>.</a:t>
            </a:r>
            <a:endParaRPr lang="en-IN" sz="1600" dirty="0">
              <a:latin typeface="Times New Roman"/>
              <a:cs typeface="Times New Roman"/>
            </a:endParaRPr>
          </a:p>
          <a:p>
            <a:pPr marL="94615" lvl="1" indent="-81915">
              <a:lnSpc>
                <a:spcPct val="100000"/>
              </a:lnSpc>
              <a:spcBef>
                <a:spcPts val="580"/>
              </a:spcBef>
              <a:buChar char="-"/>
              <a:tabLst>
                <a:tab pos="94615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Use</a:t>
            </a:r>
            <a:r>
              <a:rPr lang="en-IN" sz="1600" spc="-4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'</a:t>
            </a:r>
            <a:r>
              <a:rPr lang="en-IN" sz="1600" dirty="0" err="1">
                <a:latin typeface="Times New Roman"/>
                <a:cs typeface="Times New Roman"/>
              </a:rPr>
              <a:t>chage</a:t>
            </a:r>
            <a:r>
              <a:rPr lang="en-IN" sz="1600" dirty="0">
                <a:latin typeface="Times New Roman"/>
                <a:cs typeface="Times New Roman"/>
              </a:rPr>
              <a:t>'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to</a:t>
            </a:r>
            <a:r>
              <a:rPr lang="en-IN" sz="1600" spc="-3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set password</a:t>
            </a:r>
            <a:r>
              <a:rPr lang="en-IN" sz="1600" spc="-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expiry</a:t>
            </a:r>
            <a:r>
              <a:rPr lang="en-IN" sz="1600" spc="-30" dirty="0">
                <a:latin typeface="Times New Roman"/>
                <a:cs typeface="Times New Roman"/>
              </a:rPr>
              <a:t> </a:t>
            </a:r>
            <a:r>
              <a:rPr lang="en-IN" sz="1600" spc="-10" dirty="0">
                <a:latin typeface="Times New Roman"/>
                <a:cs typeface="Times New Roman"/>
              </a:rPr>
              <a:t>policies.</a:t>
            </a:r>
            <a:endParaRPr lang="en-IN" sz="1600" dirty="0">
              <a:latin typeface="Times New Roman"/>
              <a:cs typeface="Times New Roman"/>
            </a:endParaRPr>
          </a:p>
          <a:p>
            <a:pPr marL="94615" lvl="1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Keep</a:t>
            </a:r>
            <a:r>
              <a:rPr lang="en-IN" sz="1600" spc="-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an</a:t>
            </a:r>
            <a:r>
              <a:rPr lang="en-IN" sz="1600" spc="-3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administrative</a:t>
            </a:r>
            <a:r>
              <a:rPr lang="en-IN" sz="1600" spc="-4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log</a:t>
            </a:r>
            <a:r>
              <a:rPr lang="en-IN" sz="1600" spc="-3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of</a:t>
            </a:r>
            <a:r>
              <a:rPr lang="en-IN" sz="1600" spc="-1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user</a:t>
            </a:r>
            <a:r>
              <a:rPr lang="en-IN" sz="1600" spc="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changes</a:t>
            </a:r>
            <a:r>
              <a:rPr lang="en-IN" sz="1600" spc="-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for</a:t>
            </a:r>
            <a:r>
              <a:rPr lang="en-IN" sz="1600" spc="10" dirty="0">
                <a:latin typeface="Times New Roman"/>
                <a:cs typeface="Times New Roman"/>
              </a:rPr>
              <a:t> </a:t>
            </a:r>
            <a:r>
              <a:rPr lang="en-IN" sz="1600" spc="-10" dirty="0">
                <a:latin typeface="Times New Roman"/>
                <a:cs typeface="Times New Roman"/>
              </a:rPr>
              <a:t>auditability.</a:t>
            </a:r>
            <a:endParaRPr lang="en-IN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IN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IN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z="2000" b="1" spc="-10" dirty="0">
                <a:latin typeface="Times New Roman"/>
                <a:cs typeface="Times New Roman"/>
              </a:rPr>
              <a:t>REFERENCES</a:t>
            </a:r>
            <a:endParaRPr lang="en-IN" sz="20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154940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Linux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Documentation</a:t>
            </a:r>
            <a:r>
              <a:rPr lang="en-IN" sz="1600" spc="-3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Project</a:t>
            </a:r>
            <a:r>
              <a:rPr lang="en-IN" sz="1600" spc="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-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Administrative</a:t>
            </a:r>
            <a:r>
              <a:rPr lang="en-IN" sz="1600" spc="-45" dirty="0">
                <a:latin typeface="Times New Roman"/>
                <a:cs typeface="Times New Roman"/>
              </a:rPr>
              <a:t> </a:t>
            </a:r>
            <a:r>
              <a:rPr lang="en-IN" sz="1600" spc="-10" dirty="0">
                <a:latin typeface="Times New Roman"/>
                <a:cs typeface="Times New Roman"/>
              </a:rPr>
              <a:t>Guides</a:t>
            </a:r>
            <a:endParaRPr lang="en-IN" sz="16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54940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man</a:t>
            </a:r>
            <a:r>
              <a:rPr lang="en-IN" sz="1600" spc="-5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pages:</a:t>
            </a:r>
            <a:r>
              <a:rPr lang="en-IN" sz="1600" spc="-35" dirty="0">
                <a:latin typeface="Times New Roman"/>
                <a:cs typeface="Times New Roman"/>
              </a:rPr>
              <a:t> </a:t>
            </a:r>
            <a:r>
              <a:rPr lang="en-IN" sz="1600" dirty="0" err="1">
                <a:latin typeface="Times New Roman"/>
                <a:cs typeface="Times New Roman"/>
              </a:rPr>
              <a:t>useradd</a:t>
            </a:r>
            <a:r>
              <a:rPr lang="en-IN" sz="1600" dirty="0">
                <a:latin typeface="Times New Roman"/>
                <a:cs typeface="Times New Roman"/>
              </a:rPr>
              <a:t>(8),</a:t>
            </a:r>
            <a:r>
              <a:rPr lang="en-IN" sz="1600" spc="-20" dirty="0">
                <a:latin typeface="Times New Roman"/>
                <a:cs typeface="Times New Roman"/>
              </a:rPr>
              <a:t> </a:t>
            </a:r>
            <a:r>
              <a:rPr lang="en-IN" sz="1600" dirty="0" err="1">
                <a:latin typeface="Times New Roman"/>
                <a:cs typeface="Times New Roman"/>
              </a:rPr>
              <a:t>usermod</a:t>
            </a:r>
            <a:r>
              <a:rPr lang="en-IN" sz="1600" dirty="0">
                <a:latin typeface="Times New Roman"/>
                <a:cs typeface="Times New Roman"/>
              </a:rPr>
              <a:t>(8),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 err="1">
                <a:latin typeface="Times New Roman"/>
                <a:cs typeface="Times New Roman"/>
              </a:rPr>
              <a:t>userdel</a:t>
            </a:r>
            <a:r>
              <a:rPr lang="en-IN" sz="1600" dirty="0">
                <a:latin typeface="Times New Roman"/>
                <a:cs typeface="Times New Roman"/>
              </a:rPr>
              <a:t>(8),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 err="1">
                <a:latin typeface="Times New Roman"/>
                <a:cs typeface="Times New Roman"/>
              </a:rPr>
              <a:t>chown</a:t>
            </a:r>
            <a:r>
              <a:rPr lang="en-IN" sz="1600" dirty="0">
                <a:latin typeface="Times New Roman"/>
                <a:cs typeface="Times New Roman"/>
              </a:rPr>
              <a:t>(1),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 err="1">
                <a:latin typeface="Times New Roman"/>
                <a:cs typeface="Times New Roman"/>
              </a:rPr>
              <a:t>chmod</a:t>
            </a:r>
            <a:r>
              <a:rPr lang="en-IN" sz="1600" dirty="0">
                <a:latin typeface="Times New Roman"/>
                <a:cs typeface="Times New Roman"/>
              </a:rPr>
              <a:t>(1),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spc="-10" dirty="0" err="1">
                <a:latin typeface="Times New Roman"/>
                <a:cs typeface="Times New Roman"/>
              </a:rPr>
              <a:t>setfacl</a:t>
            </a:r>
            <a:r>
              <a:rPr lang="en-IN" sz="1600" spc="-10" dirty="0">
                <a:latin typeface="Times New Roman"/>
                <a:cs typeface="Times New Roman"/>
              </a:rPr>
              <a:t>(1)</a:t>
            </a:r>
            <a:endParaRPr lang="en-IN" sz="16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154940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Official</a:t>
            </a:r>
            <a:r>
              <a:rPr lang="en-IN" sz="1600" spc="-1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distribution</a:t>
            </a:r>
            <a:r>
              <a:rPr lang="en-IN" sz="1600" spc="-4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admin</a:t>
            </a:r>
            <a:r>
              <a:rPr lang="en-IN" sz="1600" spc="-4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guides</a:t>
            </a:r>
            <a:r>
              <a:rPr lang="en-IN" sz="1600" spc="-2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(Debian,</a:t>
            </a:r>
            <a:r>
              <a:rPr lang="en-IN" sz="1600" spc="-1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Ubuntu,</a:t>
            </a:r>
            <a:r>
              <a:rPr lang="en-IN" sz="1600" spc="-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CentOS)</a:t>
            </a:r>
            <a:r>
              <a:rPr lang="en-IN" sz="1600" spc="-3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for filesystem</a:t>
            </a:r>
            <a:r>
              <a:rPr lang="en-IN" sz="1600" spc="-4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and</a:t>
            </a:r>
            <a:r>
              <a:rPr lang="en-IN" sz="1600" spc="-40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ACL</a:t>
            </a:r>
            <a:r>
              <a:rPr lang="en-IN" sz="1600" spc="-20" dirty="0">
                <a:latin typeface="Times New Roman"/>
                <a:cs typeface="Times New Roman"/>
              </a:rPr>
              <a:t> </a:t>
            </a:r>
            <a:r>
              <a:rPr lang="en-IN" sz="1600" spc="-10" dirty="0">
                <a:latin typeface="Times New Roman"/>
                <a:cs typeface="Times New Roman"/>
              </a:rPr>
              <a:t>specifics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0025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1932</Words>
  <Application>Microsoft Office PowerPoint</Application>
  <PresentationFormat>Custom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python-docx</dc:creator>
  <cp:lastModifiedBy>KRISHNA ANGRA</cp:lastModifiedBy>
  <cp:revision>2</cp:revision>
  <dcterms:created xsi:type="dcterms:W3CDTF">2025-11-03T06:07:26Z</dcterms:created>
  <dcterms:modified xsi:type="dcterms:W3CDTF">2025-11-04T13:12:46Z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2025-11-03T00:00:00Z</vt:filetime>
  </property>
  <property fmtid="{D5CDD505-2E9C-101B-9397-08002B2CF9AE}" pid="5" name="Producer">
    <vt:lpwstr>www.ilovepdf.com</vt:lpwstr>
  </property>
</Properties>
</file>